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67" r:id="rId4"/>
    <p:sldId id="259" r:id="rId5"/>
    <p:sldId id="277" r:id="rId6"/>
    <p:sldId id="260" r:id="rId7"/>
    <p:sldId id="278" r:id="rId8"/>
    <p:sldId id="280" r:id="rId9"/>
    <p:sldId id="281" r:id="rId10"/>
    <p:sldId id="282" r:id="rId11"/>
    <p:sldId id="262" r:id="rId12"/>
    <p:sldId id="283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3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5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3A1C593-65D0-4073-BCC9-577B9352EA97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Divisa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/>
          <a:p>
            <a:fld id="{63A1C593-65D0-4073-BCC9-577B9352EA97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3A1C593-65D0-4073-BCC9-577B9352EA97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3A1C593-65D0-4073-BCC9-577B9352EA97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cloud.oracle.com/pt_BR/OIC" TargetMode="External"/><Relationship Id="rId13" Type="http://schemas.openxmlformats.org/officeDocument/2006/relationships/hyperlink" Target="https://www.w3.org/TR/wsdl20-primer/" TargetMode="External"/><Relationship Id="rId3" Type="http://schemas.openxmlformats.org/officeDocument/2006/relationships/hyperlink" Target="https://www.researchgate.net/publication/221518347_The_project_fragmentation_problem_in_personal_information_management" TargetMode="External"/><Relationship Id="rId7" Type="http://schemas.openxmlformats.org/officeDocument/2006/relationships/hyperlink" Target="http://www.cdrlm.com/whitepapers/other/xml_what_is_service_oriented_architecture_sep2003.pdf" TargetMode="External"/><Relationship Id="rId12" Type="http://schemas.openxmlformats.org/officeDocument/2006/relationships/hyperlink" Target="https://www.w3.org/TR/xmlschema11-2/" TargetMode="External"/><Relationship Id="rId2" Type="http://schemas.openxmlformats.org/officeDocument/2006/relationships/hyperlink" Target="http://www.academia.edu/download/7299777/cloud%20computing%20a%20study%20of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234829343_Introduction_Service-oriented_computing" TargetMode="External"/><Relationship Id="rId11" Type="http://schemas.openxmlformats.org/officeDocument/2006/relationships/hyperlink" Target="https://www.w3.org/TR/xmlschema11-1/" TargetMode="External"/><Relationship Id="rId5" Type="http://schemas.openxmlformats.org/officeDocument/2006/relationships/hyperlink" Target="https://www.researchgate.net/publication/235675420_SOA_System_Integration_with_Web_Services" TargetMode="External"/><Relationship Id="rId10" Type="http://schemas.openxmlformats.org/officeDocument/2006/relationships/hyperlink" Target="https://www.w3.org/TR/xml/" TargetMode="External"/><Relationship Id="rId4" Type="http://schemas.openxmlformats.org/officeDocument/2006/relationships/hyperlink" Target="http://www.kellen.net/crmcomp.pdf" TargetMode="External"/><Relationship Id="rId9" Type="http://schemas.openxmlformats.org/officeDocument/2006/relationships/hyperlink" Target="https://www.researchgate.net/publication/236664838_Applying_representational_state_transfer_REST_architecture_to_archetype-based_electronic_health_record_systems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ecma-international.org/publications/files/ECMA-ST/ECMA-404.pdf" TargetMode="External"/><Relationship Id="rId13" Type="http://schemas.openxmlformats.org/officeDocument/2006/relationships/hyperlink" Target="https://www.redalyc.org/pdf/2032/203247790006.pdf" TargetMode="External"/><Relationship Id="rId3" Type="http://schemas.openxmlformats.org/officeDocument/2006/relationships/hyperlink" Target="https://www.w3.org/TR/wsdl20-adjuncts/" TargetMode="External"/><Relationship Id="rId7" Type="http://schemas.openxmlformats.org/officeDocument/2006/relationships/hyperlink" Target="https://app.uff.br/riuff/handle/1/5267" TargetMode="External"/><Relationship Id="rId12" Type="http://schemas.openxmlformats.org/officeDocument/2006/relationships/hyperlink" Target="http://seer.upf.br/index.php/rbca/article/view/8051" TargetMode="External"/><Relationship Id="rId17" Type="http://schemas.openxmlformats.org/officeDocument/2006/relationships/hyperlink" Target="https://www.atlantis-press.com/proceedings/icacsei-13/7568" TargetMode="External"/><Relationship Id="rId2" Type="http://schemas.openxmlformats.org/officeDocument/2006/relationships/hyperlink" Target="https://www.w3.org/TR/wsdl20/" TargetMode="External"/><Relationship Id="rId16" Type="http://schemas.openxmlformats.org/officeDocument/2006/relationships/hyperlink" Target="http://researchgate.net/publication/335034528_Working_in_Collaboration_with_Git_-_A_Practical_Approach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odejs.org/en/docs/" TargetMode="External"/><Relationship Id="rId11" Type="http://schemas.openxmlformats.org/officeDocument/2006/relationships/hyperlink" Target="https://www.redalyc.org/pdf/3843/384334798002.pdf" TargetMode="External"/><Relationship Id="rId5" Type="http://schemas.openxmlformats.org/officeDocument/2006/relationships/hyperlink" Target="http://citeseerx.ist.psu.edu/viewdoc/download?doi=10.1.1.386.7692&amp;rep=rep1&amp;type=pdf#page=100" TargetMode="External"/><Relationship Id="rId15" Type="http://schemas.openxmlformats.org/officeDocument/2006/relationships/hyperlink" Target="https://www.researchgate.net/publication/309965523_To_Docker_or_Not_to_Docker_A_Security_Perspective" TargetMode="External"/><Relationship Id="rId10" Type="http://schemas.openxmlformats.org/officeDocument/2006/relationships/hyperlink" Target="https://www.researchgate.net/publication/286594024_Performance_Comparison_and_Evaluation_of_Web_Development_Technologies_in_PHP_Python_and_Nodejs" TargetMode="External"/><Relationship Id="rId4" Type="http://schemas.openxmlformats.org/officeDocument/2006/relationships/hyperlink" Target="https://developer.mozilla.org/pt-BR/docs/Aprender/JavaScript" TargetMode="External"/><Relationship Id="rId9" Type="http://schemas.openxmlformats.org/officeDocument/2006/relationships/hyperlink" Target="https://pdfs.semanticscholar.org/8432/1e662b24363e032d680901627aa1bfd6088f.pdf" TargetMode="External"/><Relationship Id="rId14" Type="http://schemas.openxmlformats.org/officeDocument/2006/relationships/hyperlink" Target="https://sol.sbc.org.br/index.php/sbsi/article/view/5973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effectLst/>
              </a:rPr>
              <a:t>SUÍTE DE INTEGRAÇÃO DE SISTEMAS WEB 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/>
        </p:nvSpPr>
        <p:spPr>
          <a:xfrm>
            <a:off x="2153438" y="3915374"/>
            <a:ext cx="9144000" cy="11331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altLang="en-US" sz="1600" dirty="0"/>
              <a:t>Universidade Federal do Rio Grande</a:t>
            </a:r>
          </a:p>
          <a:p>
            <a:pPr algn="r"/>
            <a:r>
              <a:rPr lang="pt-BR" altLang="en-US" sz="1600" dirty="0"/>
              <a:t>PPG Aplicações para Web - </a:t>
            </a:r>
            <a:r>
              <a:rPr lang="pt-BR" altLang="en-US" sz="1600" dirty="0">
                <a:sym typeface="+mn-ea"/>
              </a:rPr>
              <a:t>Polo SJN</a:t>
            </a:r>
          </a:p>
          <a:p>
            <a:pPr algn="r"/>
            <a:r>
              <a:rPr lang="pt-BR" altLang="en-US" sz="1600" dirty="0">
                <a:sym typeface="+mn-ea"/>
              </a:rPr>
              <a:t>Prof. Dr. Vinicius Menezes de Oliveira</a:t>
            </a:r>
            <a:br>
              <a:rPr lang="pt-BR" altLang="en-US" sz="1600" dirty="0">
                <a:sym typeface="+mn-ea"/>
              </a:rPr>
            </a:br>
            <a:r>
              <a:rPr lang="pt-BR" altLang="en-US" sz="1600" dirty="0">
                <a:sym typeface="+mn-ea"/>
              </a:rPr>
              <a:t>Rodrigo de Matos Alves - 129095</a:t>
            </a:r>
            <a:r>
              <a:rPr lang="pt-BR" altLang="en-US" dirty="0">
                <a:sym typeface="+mn-ea"/>
              </a:rPr>
              <a:t> </a:t>
            </a:r>
            <a:endParaRPr lang="pt-BR" altLang="en-US" dirty="0"/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r>
              <a:rPr lang="pt-BR" dirty="0"/>
              <a:t>Com a web se estabeleceu um cenário fértil para a criação de soluções para as mais variadas áreas que a usam como plataforma. </a:t>
            </a:r>
          </a:p>
          <a:p>
            <a:r>
              <a:rPr lang="pt-BR" dirty="0"/>
              <a:t>Devido ao aumento de ferramentas disponíveis e necessidade de disponibilizar dados em mais de um sistema, se torna necessário existir uma integração para facilitar processos que envolvam escopos diferentes. </a:t>
            </a:r>
          </a:p>
          <a:p>
            <a:r>
              <a:rPr lang="pt-BR" dirty="0"/>
              <a:t>Este artigo abordará uma proposta de solução de integração genérica entre sistemas, simulando uma lógica de negócio interdependente.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/>
              <a:t>Introdução e contexto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5760" lvl="1" indent="-256032">
              <a:spcBef>
                <a:spcPts val="400"/>
              </a:spcBef>
              <a:buSzPct val="68000"/>
              <a:buFont typeface="Wingdings 3"/>
              <a:buChar char=""/>
            </a:pPr>
            <a:r>
              <a:rPr lang="pt-BR" dirty="0"/>
              <a:t>Com o decorrer, surgiram ferramentas integradas que sanam um escopo maior de um problema, porem os seguintes motivos podem impedir uma troca:</a:t>
            </a:r>
          </a:p>
          <a:p>
            <a:pPr lvl="1"/>
            <a:r>
              <a:rPr lang="pt-BR" dirty="0"/>
              <a:t>a dificuldade de migração de ferramenta para outra, </a:t>
            </a:r>
          </a:p>
          <a:p>
            <a:pPr lvl="1"/>
            <a:r>
              <a:rPr lang="pt-BR" dirty="0"/>
              <a:t>a possibilidade de importação de dados e,</a:t>
            </a:r>
          </a:p>
          <a:p>
            <a:pPr lvl="1"/>
            <a:r>
              <a:rPr lang="pt-BR" dirty="0"/>
              <a:t>até uma resistência cultural </a:t>
            </a:r>
          </a:p>
          <a:p>
            <a:r>
              <a:rPr lang="pt-BR" sz="2300" dirty="0"/>
              <a:t>Porém o cenário mais comum é:</a:t>
            </a:r>
          </a:p>
          <a:p>
            <a:pPr lvl="1"/>
            <a:r>
              <a:rPr lang="pt-BR" dirty="0"/>
              <a:t>necessidade de integração de dados entre 2 empresas</a:t>
            </a:r>
          </a:p>
          <a:p>
            <a:r>
              <a:rPr lang="pt-BR" sz="2300" dirty="0"/>
              <a:t>Sistemas diferentes que não existe necessidade de alteração do sistema inteiro de uma das partes.</a:t>
            </a:r>
          </a:p>
          <a:p>
            <a:r>
              <a:rPr lang="pt-BR" sz="2300" dirty="0"/>
              <a:t>Nesses casos se busca a possibilidade de integração entre esses sistemas.</a:t>
            </a:r>
          </a:p>
          <a:p>
            <a:pPr lvl="0"/>
            <a:endParaRPr lang="pt-BR" altLang="en-US" dirty="0"/>
          </a:p>
          <a:p>
            <a:endParaRPr lang="pt-BR" alt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altLang="en-US"/>
              <a:t>Contexto e Motivação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en-US" dirty="0"/>
              <a:t>Levantamento de ferramentas que se proponham a resolver a problemática.</a:t>
            </a:r>
          </a:p>
          <a:p>
            <a:r>
              <a:rPr lang="pt-BR" altLang="en-US" dirty="0"/>
              <a:t>Analise critica de funcionalidades, tecnologia utilizada e aplicabilidade.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/>
              <a:t>Objetivos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pt-BR" alt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Estudo de bibliografia</a:t>
            </a:r>
            <a:endParaRPr lang="pt-BR" altLang="en-US" sz="2800" b="0" dirty="0">
              <a:solidFill>
                <a:srgbClr val="000000"/>
              </a:solidFill>
              <a:latin typeface="Calibri" panose="020F0502020204030204" charset="0"/>
            </a:endParaRPr>
          </a:p>
          <a:p>
            <a:pPr marL="800100" lvl="1" indent="-342900">
              <a:buFont typeface="+mj-lt"/>
              <a:buAutoNum type="romanLcPeriod"/>
            </a:pPr>
            <a:r>
              <a:rPr lang="pt-BR" alt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Estudo 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de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ferramentas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integração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.</a:t>
            </a:r>
          </a:p>
          <a:p>
            <a:pPr marL="800100" lvl="1" indent="-342900">
              <a:buFont typeface="+mj-lt"/>
              <a:buAutoNum type="romanLcPeriod"/>
            </a:pPr>
            <a:r>
              <a:rPr lang="en-US" altLang="en-US" sz="2800" b="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Estudo</a:t>
            </a:r>
            <a:r>
              <a:rPr lang="en-US" altLang="en-US" sz="2800" b="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de </a:t>
            </a:r>
            <a:r>
              <a:rPr lang="en-US" altLang="en-US" sz="2800" b="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tecnologias</a:t>
            </a:r>
            <a:endParaRPr lang="en-US" altLang="en-US" sz="2800" b="0" dirty="0">
              <a:solidFill>
                <a:srgbClr val="000000"/>
              </a:solidFill>
              <a:latin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Análise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crítica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funcionalidades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tecnologia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utilizada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.</a:t>
            </a:r>
            <a:endParaRPr lang="en-US" altLang="en-US" sz="2800" b="0" dirty="0">
              <a:solidFill>
                <a:srgbClr val="000000"/>
              </a:solidFill>
              <a:latin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Definição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modelo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implementação</a:t>
            </a:r>
            <a:endParaRPr lang="en-US" sz="2800" dirty="0">
              <a:solidFill>
                <a:srgbClr val="000000"/>
              </a:solidFill>
              <a:latin typeface="Calibri" panose="020F050202020403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Finalização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do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trabalho</a:t>
            </a:r>
            <a:endParaRPr lang="pt-BR" alt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/>
              <a:t>Lista de atividades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en-US" dirty="0"/>
              <a:t>Protótipo de software funcional.</a:t>
            </a:r>
          </a:p>
          <a:p>
            <a:r>
              <a:rPr lang="pt-BR" altLang="en-US" dirty="0"/>
              <a:t>Relatório técnico.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/>
              <a:t>Resultados esperados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443582"/>
          </a:xfrm>
        </p:spPr>
        <p:txBody>
          <a:bodyPr/>
          <a:lstStyle/>
          <a:p>
            <a:pPr algn="ctr"/>
            <a:r>
              <a:rPr lang="pt-BR" dirty="0"/>
              <a:t>Apresentação Código e Operação da Ferramenta</a:t>
            </a:r>
          </a:p>
        </p:txBody>
      </p:sp>
    </p:spTree>
    <p:extLst>
      <p:ext uri="{BB962C8B-B14F-4D97-AF65-F5344CB8AC3E}">
        <p14:creationId xmlns:p14="http://schemas.microsoft.com/office/powerpoint/2010/main" val="2658567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rtl="0"/>
            <a:r>
              <a:rPr lang="pt-BR" sz="2000" b="0" dirty="0">
                <a:solidFill>
                  <a:srgbClr val="000000"/>
                </a:solidFill>
                <a:effectLst/>
              </a:rPr>
              <a:t>Abordamos a necessidade de mercado.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Integração entre sistemas</a:t>
            </a:r>
          </a:p>
          <a:p>
            <a:pPr rtl="0"/>
            <a:r>
              <a:rPr lang="pt-BR" sz="2000" b="0" dirty="0">
                <a:solidFill>
                  <a:srgbClr val="000000"/>
                </a:solidFill>
                <a:effectLst/>
              </a:rPr>
              <a:t>O alto custo no desenvolvimento 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como análise entre os sistemas, 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criação e manutenção de estruturas, 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desenvolvimento propriamente dito 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adaptação na adoção de nova metodologia, </a:t>
            </a:r>
          </a:p>
          <a:p>
            <a:pPr lvl="1"/>
            <a:r>
              <a:rPr lang="pt-BR" sz="2000" dirty="0">
                <a:solidFill>
                  <a:srgbClr val="000000"/>
                </a:solidFill>
              </a:rPr>
              <a:t>Tempo </a:t>
            </a:r>
            <a:r>
              <a:rPr lang="pt-BR" sz="2000" b="0" dirty="0">
                <a:solidFill>
                  <a:srgbClr val="000000"/>
                </a:solidFill>
                <a:effectLst/>
              </a:rPr>
              <a:t>até a sua conclusão.</a:t>
            </a:r>
          </a:p>
          <a:p>
            <a:pPr rtl="0"/>
            <a:r>
              <a:rPr lang="pt-BR" sz="2000" b="0" dirty="0">
                <a:solidFill>
                  <a:srgbClr val="000000"/>
                </a:solidFill>
                <a:effectLst/>
              </a:rPr>
              <a:t>Abordagem de uma ferramenta </a:t>
            </a:r>
            <a:r>
              <a:rPr lang="pt-BR" sz="2000" b="0" dirty="0" err="1">
                <a:solidFill>
                  <a:srgbClr val="000000"/>
                </a:solidFill>
                <a:effectLst/>
              </a:rPr>
              <a:t>cloud</a:t>
            </a:r>
            <a:r>
              <a:rPr lang="pt-BR" sz="2000" b="0" dirty="0">
                <a:solidFill>
                  <a:srgbClr val="000000"/>
                </a:solidFill>
                <a:effectLst/>
              </a:rPr>
              <a:t> 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para resolver essa demanda de uma integração direta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sem a necessidade de transformação de dados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 dirty="0"/>
              <a:t>Conclusões</a:t>
            </a:r>
          </a:p>
        </p:txBody>
      </p:sp>
    </p:spTree>
    <p:extLst>
      <p:ext uri="{BB962C8B-B14F-4D97-AF65-F5344CB8AC3E}">
        <p14:creationId xmlns:p14="http://schemas.microsoft.com/office/powerpoint/2010/main" val="804739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000" b="0" dirty="0">
                <a:solidFill>
                  <a:srgbClr val="000000"/>
                </a:solidFill>
                <a:effectLst/>
              </a:rPr>
              <a:t>Porém soluções </a:t>
            </a:r>
            <a:r>
              <a:rPr lang="pt-BR" sz="2000" b="0" dirty="0" err="1">
                <a:solidFill>
                  <a:srgbClr val="000000"/>
                </a:solidFill>
                <a:effectLst/>
              </a:rPr>
              <a:t>PaaS</a:t>
            </a:r>
            <a:r>
              <a:rPr lang="pt-BR" sz="2000" b="0" dirty="0">
                <a:solidFill>
                  <a:srgbClr val="000000"/>
                </a:solidFill>
                <a:effectLst/>
              </a:rPr>
              <a:t>, </a:t>
            </a:r>
            <a:r>
              <a:rPr lang="pt-BR" sz="2000" b="0" dirty="0" err="1">
                <a:solidFill>
                  <a:srgbClr val="000000"/>
                </a:solidFill>
                <a:effectLst/>
              </a:rPr>
              <a:t>IaaS</a:t>
            </a:r>
            <a:r>
              <a:rPr lang="pt-BR" sz="2000" b="0" dirty="0">
                <a:solidFill>
                  <a:srgbClr val="000000"/>
                </a:solidFill>
                <a:effectLst/>
              </a:rPr>
              <a:t> e SaaS cada vez mais presentes no mercado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terceirizando responsabilidades </a:t>
            </a:r>
          </a:p>
          <a:p>
            <a:pPr lvl="2"/>
            <a:r>
              <a:rPr lang="pt-BR" sz="2000" b="0" dirty="0">
                <a:solidFill>
                  <a:srgbClr val="000000"/>
                </a:solidFill>
                <a:effectLst/>
              </a:rPr>
              <a:t>funcionamento, </a:t>
            </a:r>
          </a:p>
          <a:p>
            <a:pPr lvl="2"/>
            <a:r>
              <a:rPr lang="pt-BR" sz="2000" b="0" dirty="0">
                <a:solidFill>
                  <a:srgbClr val="000000"/>
                </a:solidFill>
                <a:effectLst/>
              </a:rPr>
              <a:t>infraestrutura </a:t>
            </a:r>
          </a:p>
          <a:p>
            <a:pPr lvl="2"/>
            <a:r>
              <a:rPr lang="pt-BR" sz="2000" b="0" dirty="0">
                <a:solidFill>
                  <a:srgbClr val="000000"/>
                </a:solidFill>
                <a:effectLst/>
              </a:rPr>
              <a:t>e as vezes até de operação, 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Aumentando... </a:t>
            </a:r>
          </a:p>
          <a:p>
            <a:pPr lvl="2"/>
            <a:r>
              <a:rPr lang="pt-BR" sz="2000" b="0" dirty="0">
                <a:solidFill>
                  <a:srgbClr val="000000"/>
                </a:solidFill>
                <a:effectLst/>
              </a:rPr>
              <a:t>poder de processamento </a:t>
            </a:r>
          </a:p>
          <a:p>
            <a:pPr lvl="2"/>
            <a:r>
              <a:rPr lang="pt-BR" sz="2000" b="0" dirty="0">
                <a:solidFill>
                  <a:srgbClr val="000000"/>
                </a:solidFill>
                <a:effectLst/>
              </a:rPr>
              <a:t>tempo de resposta na criação de uma nova solução </a:t>
            </a:r>
          </a:p>
          <a:p>
            <a:pPr lvl="2"/>
            <a:r>
              <a:rPr lang="pt-BR" sz="2000" b="0" dirty="0">
                <a:solidFill>
                  <a:srgbClr val="000000"/>
                </a:solidFill>
                <a:effectLst/>
              </a:rPr>
              <a:t>sem um alto custo.</a:t>
            </a:r>
          </a:p>
          <a:p>
            <a:pPr rtl="0"/>
            <a:r>
              <a:rPr lang="pt-BR" sz="2000" b="0" dirty="0">
                <a:solidFill>
                  <a:srgbClr val="000000"/>
                </a:solidFill>
                <a:effectLst/>
              </a:rPr>
              <a:t>E nesses casos, na visão de problemas de integração, o mercado apresenta soluções extremamente completas e de fácil operação. 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 dirty="0"/>
              <a:t>Conclusões</a:t>
            </a:r>
          </a:p>
        </p:txBody>
      </p:sp>
    </p:spTree>
    <p:extLst>
      <p:ext uri="{BB962C8B-B14F-4D97-AF65-F5344CB8AC3E}">
        <p14:creationId xmlns:p14="http://schemas.microsoft.com/office/powerpoint/2010/main" val="1575915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rtl="0"/>
            <a:r>
              <a:rPr lang="pt-BR" sz="2000" b="0" dirty="0">
                <a:solidFill>
                  <a:srgbClr val="000000"/>
                </a:solidFill>
                <a:effectLst/>
              </a:rPr>
              <a:t>Aplicações de alto nível onde pessoas com menor conhecimento técnico, porém com maior conhecimento da área de negócio, podem obter um resultado satisfatório. </a:t>
            </a:r>
          </a:p>
          <a:p>
            <a:pPr rtl="0"/>
            <a:r>
              <a:rPr lang="pt-BR" sz="2000" b="0" dirty="0">
                <a:solidFill>
                  <a:srgbClr val="000000"/>
                </a:solidFill>
                <a:effectLst/>
              </a:rPr>
              <a:t>Reafirmando a computação como uma ferramenta facilitadora, focada na solução de problemas e não na necessidade de resolução de problemas técnicos.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 dirty="0"/>
              <a:t>Conclusões</a:t>
            </a:r>
          </a:p>
        </p:txBody>
      </p:sp>
    </p:spTree>
    <p:extLst>
      <p:ext uri="{BB962C8B-B14F-4D97-AF65-F5344CB8AC3E}">
        <p14:creationId xmlns:p14="http://schemas.microsoft.com/office/powerpoint/2010/main" val="1998599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BHARDWAJ,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Sushil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Jain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Leena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Jain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Sandeep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Cloud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computing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: A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study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of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infrastructure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as a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service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(IAAS).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International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Journal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of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engineering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information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Technology, v. 2, n. 1, p. 60-63, Publicação eletrônica em </a:t>
            </a:r>
            <a:r>
              <a:rPr lang="pt-BR" sz="1900" b="0" i="0" u="sng" dirty="0">
                <a:solidFill>
                  <a:srgbClr val="000000"/>
                </a:solidFill>
                <a:effectLst/>
                <a:latin typeface="Times, serif"/>
                <a:hlinkClick r:id="rId2"/>
              </a:rPr>
              <a:t>http://www.academia.edu/download/7299777/cloud%20computing%20a%20study%20of.pdf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2010. </a:t>
            </a:r>
            <a:endParaRPr lang="pt-BR" sz="1900" b="0" i="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BERGMAN,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Ofer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&amp;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Beyth-Marom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Ruth &amp;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Nachmias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Rafi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The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project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fragmentation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problem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in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personal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information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management. 271-274. 10.1145/1124772.1124813. Publicação eletrônica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3"/>
              </a:rPr>
              <a:t>https://www.researchgate.net/publication/221518347_The_project_fragmentation_problem_in_personal_information_management</a:t>
            </a:r>
            <a:r>
              <a:rPr lang="pt-BR" sz="1900" dirty="0">
                <a:solidFill>
                  <a:srgbClr val="000000"/>
                </a:solidFill>
                <a:effectLst/>
              </a:rPr>
              <a:t>.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2006.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KELLEN, Vince;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Stefanczyk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Keith.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Complexity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Fragmentation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Uncertainty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Emergence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in CRM. CRM White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Paper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p. 1-15, Publicação eletrônica disponível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4"/>
              </a:rPr>
              <a:t>http://www.kellen.net/crmcomp.pdf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2002. 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KOPNIAK,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Piotr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SOA System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Integration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with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Web Services, Varia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Informatica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PIPS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Polish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Information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Processing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Society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Publicação eletrônica disponível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5"/>
              </a:rPr>
              <a:t>https://www.researchgate.net/publication/235675420_SOA_System_Integration_with_Web_Services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, 2011.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PAPAZOGLOU, Michael P.;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Georgakopoulos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Dimitrios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Service-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oriented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computing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Communications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of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the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ACM, v. 46, n. 10, p. 25-28, Publicação eletrônica disponível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6"/>
              </a:rPr>
              <a:t>https://www.researchgate.net/publication/234829343_Introduction_Service-oriented_computing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2003. 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HE,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Hao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What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service-oriented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architecture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Publicação eletrônica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7"/>
              </a:rPr>
              <a:t>http://www.cdrlm.com/whitepapers/other/xml_what_is_service_oriented_architecture_sep2003.pdf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, v. 30, p. 1-5, 2003.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ORACLE INTEGRATION CLOUD - Publicação eletrônica em </a:t>
            </a:r>
            <a:r>
              <a:rPr lang="pt-BR" sz="1900" b="0" i="0" u="sng" dirty="0">
                <a:solidFill>
                  <a:srgbClr val="000000"/>
                </a:solidFill>
                <a:effectLst/>
                <a:latin typeface="Times, serif"/>
                <a:hlinkClick r:id="rId8"/>
              </a:rPr>
              <a:t>https://cloud.oracle.com/pt_BR/OIC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acessado em 07/10/2019. 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SUNDVALL, Erik &amp;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Nyström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Mikael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&amp;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Karlsson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Daniel &amp;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Eneling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Martin &amp; Chen,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Rong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&amp;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Orman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Håkan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Applying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representational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state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transfer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(REST)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architecture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to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archetype-based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electronic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health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record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systems. BMC medical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informatics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decision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making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13. 57. 10.1186/1472-6947-13-57, Publicação eletrônica disponível em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9"/>
              </a:rPr>
              <a:t>https://www.researchgate.net/publication/236664838_Applying_representational_state_transfer_REST_architecture_to_archetype-based_electronic_health_record_systems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2013. 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RICHARDSON, Leonard; RUBY, Sam.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RESTful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web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services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“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O'Reilly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Media, Inc.", 2008. </a:t>
            </a:r>
            <a:endParaRPr lang="pt-BR" sz="1900" b="0" i="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YERGEAU, François et al.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Extensible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markup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language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(XML) 1.0. W3C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Recommendation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v. 5, p. 220, 2008, Publicação eletrônica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10"/>
              </a:rPr>
              <a:t>https://www.w3.org/TR/xml/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THOMPSON, Henry S. et al. W3C XML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Schema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Definition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Language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(XSD) 1.1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Part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1: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Structures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The World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Wide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Web Consortium (W3C), W3C, 2012, Publicação eletrônica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11"/>
              </a:rPr>
              <a:t>https://www.w3.org/TR/xmlschema11-1/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THOMPSON, Henry S. et al.W3C XML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Schema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Definition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Language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(XSD) 1.1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Part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2: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Datatypes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The World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Wide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Web Consortium (W3C), W3C, 2012, Publicação eletrônica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12"/>
              </a:rPr>
              <a:t>https://www.w3.org/TR/xmlschema11-2/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LIU,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Canyang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Kevin et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al.Web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Services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Description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Language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(WSDL)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Version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2.0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Part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0: Primer. 2007, Publicação eletrônica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13"/>
              </a:rPr>
              <a:t>https://www.w3.org/TR/wsdl20-primer/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marL="109728" indent="0" rtl="0">
              <a:buNone/>
            </a:pPr>
            <a:endParaRPr lang="pt-BR" dirty="0">
              <a:solidFill>
                <a:srgbClr val="000000"/>
              </a:solidFill>
              <a:effectLst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/>
              <a:t>Referencias Bibliograficas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WEERAWARANA,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Sanjiva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et al. Web Services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Description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Language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(WSDL)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Version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2.0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Part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1: Core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Language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2007, Publicação eletrônica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2"/>
              </a:rPr>
              <a:t>https://www.w3.org/TR/wsdl20/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WEERAWARANA,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Sanjiva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et al. Web Services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Description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Language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(WSDL)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Version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2.0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Part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2: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Adjuncts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, 2007, Publicação eletrônica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3"/>
              </a:rPr>
              <a:t>https://www.w3.org/TR/wsdl20-adjuncts/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MOZILLA, Documentação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JavaScript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Publicação eletrônica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4"/>
              </a:rPr>
              <a:t>https://developer.mozilla.org/pt-BR/docs/Aprender/JavaScript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, acessado em 08/10/2019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LEE,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Hongki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et al. SAFE: Formal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specification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implementation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a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scalable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analysis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framework for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ECMAScript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In: FOOL 2012: 19th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International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Workshop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Foundations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Object-Oriented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Languages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p. 96. Publicação eletrônica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5"/>
              </a:rPr>
              <a:t>http://citeseerx.ist.psu.edu/viewdoc/download?doi=10.1.1.386.7692&amp;rep=rep1&amp;type=pdf#page=100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2012.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NODEJS, Documentação. acessado em 08/10/2019, Publicação eletrônica em </a:t>
            </a:r>
            <a:r>
              <a:rPr lang="pt-BR" sz="900" b="0" i="0" u="sng" dirty="0">
                <a:solidFill>
                  <a:srgbClr val="000000"/>
                </a:solidFill>
                <a:effectLst/>
                <a:latin typeface="Times, serif"/>
                <a:hlinkClick r:id="rId6"/>
              </a:rPr>
              <a:t>https://nodejs.org/en/docs/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SOUZA, Thiago Oliveira de. Comunicação real-time com Node.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js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e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WebSockets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Universidade Federal Fluminense, RJ, Publicação eletrônica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7"/>
              </a:rPr>
              <a:t>https://app.uff.br/riuff/handle/1/5267</a:t>
            </a:r>
            <a:r>
              <a:rPr lang="pt-BR" sz="900" b="0" i="0" u="sng" dirty="0">
                <a:solidFill>
                  <a:srgbClr val="000000"/>
                </a:solidFill>
                <a:effectLst/>
                <a:latin typeface="Times, serif"/>
              </a:rPr>
              <a:t>,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2016.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ECMA-404 - The JSON Data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Interchange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Syntax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8"/>
              </a:rPr>
              <a:t>http://www.ecma-international.org/publications/files/ECMA-ST/ECMA-404.pdf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2017.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NURSEITOV,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Nurzhan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et al.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Comparison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JSON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XML data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interchange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formats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: a case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study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Caine, v. 9, p. 157-162, Publicação eletrônica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9"/>
              </a:rPr>
              <a:t>https://pdfs.semanticscholar.org/8432/1e662b24363e032d680901627aa1bfd6088f.pdf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, 2009.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LEI, Kai &amp;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Ma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Yining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&amp;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Tan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Zhi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. Performance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Comparison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Evaluation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Web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Development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Technologies in PHP, Python,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Node.js. 661-668. 10.1109/CSE.2014.142. Publicação disponível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10"/>
              </a:rPr>
              <a:t>https://www.researchgate.net/publication/286594024_Performance_Comparison_and_Evaluation_of_Web_Development_Technologies_in_PHP_Python_and_Nodejs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2014.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SAYÃO, Luís Fernando; MARCONDES, Carlos Henrique. O desafio da interoperabilidade e as novas perspectivas para as bibliotecas digitais.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Transinformação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, v. 20, n. 2, p. 133-148, Publicação Eletrônica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11"/>
              </a:rPr>
              <a:t>https://www.redalyc.org/pdf/3843/384334798002.pdf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, 2008.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ABILIO, Ramon et al. A Case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study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a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service-based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information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systems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integration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in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academic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environment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Revista Brasileira de Computação Aplicada, v. 11, n. 1, p. 2-13, Publicação disponível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12"/>
              </a:rPr>
              <a:t>http://seer.upf.br/index.php/rbca/article/view/8051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2019.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SIQUEIRA, Otávio Manoel Pereira; DE OLIVEIRA, Robert Anderson Nogueira; DE OLIVEIRA,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Adicinéia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Aparecida. Integração de sistemas de informação em saúde com a utilização de Service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Oriented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Architecture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(SOA). JISTEM: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Journal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Information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Systems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Technology Management, v. 13, n. 2, p. 255-274, Publicação disponível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13"/>
              </a:rPr>
              <a:t>https://www.redalyc.org/pdf/2032/203247790006.pdf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. 2016.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TEIXEIRA, Milene Santos et al. Sistema web para gerenciamento e acompanhamento de uso de medicação em ambientes de vivência assistida. In: Anais do XII Simpósio Brasileiro de Sistemas de Informação. SBC, p. 278-284. Publicação Disponível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14"/>
              </a:rPr>
              <a:t>https://sol.sbc.org.br/index.php/sbsi/article/view/5973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2016.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COMBE, Theo. Martin, Antony &amp; Pietro, Roberto.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To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Docker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or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Not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to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Docker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: A Security Perspective. IEEE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Cloud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Computing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3. 54-62pg. Publicação disponível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15"/>
              </a:rPr>
              <a:t>https://www.researchgate.net/publication/309965523_To_Docker_or_Not_to_Docker_A_Security_Perspective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2016.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NAIK,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Poornima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&amp;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Naik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Girish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Working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in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Collaboration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with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Git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- A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Practical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Approach. Publicação disponível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16"/>
              </a:rPr>
              <a:t>http://researchgate.net/publication/335034528_Working_in_Collaboration_with_Git_-_A_Practical_Approach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2019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TRUICA,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Ciprian-Octavian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; BOICEA,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Alexandru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; TRIFAN,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Ionut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CRUD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operations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in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MongoDB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In: 2013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International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Conference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Advanced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Computer Science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Electronics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Information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(ICACSEI 2013). Atlantis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Press,Publicação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disponível em </a:t>
            </a:r>
            <a:r>
              <a:rPr lang="pt-BR" sz="900" b="0" i="0" u="sng" dirty="0">
                <a:solidFill>
                  <a:srgbClr val="000000"/>
                </a:solidFill>
                <a:effectLst/>
                <a:latin typeface="Times, serif"/>
                <a:hlinkClick r:id="rId17"/>
              </a:rPr>
              <a:t>https://www.atlantis-press.com/proceedings/icacsei-13/7568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, 2013.</a:t>
            </a:r>
            <a:endParaRPr lang="pt-BR" sz="900" dirty="0">
              <a:solidFill>
                <a:srgbClr val="000000"/>
              </a:solidFill>
              <a:effectLst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pt-BR" altLang="en-US"/>
              <a:t>Referencias Bibliograficas</a:t>
            </a:r>
          </a:p>
        </p:txBody>
      </p:sp>
    </p:spTree>
    <p:extLst>
      <p:ext uri="{BB962C8B-B14F-4D97-AF65-F5344CB8AC3E}">
        <p14:creationId xmlns:p14="http://schemas.microsoft.com/office/powerpoint/2010/main" val="1840089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effectLst/>
              </a:rPr>
              <a:t>SUÍTE DE INTEGRAÇÃO DE SISTEMAS WEB 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/>
        </p:nvSpPr>
        <p:spPr>
          <a:xfrm>
            <a:off x="2153438" y="3915374"/>
            <a:ext cx="9144000" cy="11331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altLang="en-US" sz="1600" dirty="0"/>
              <a:t>Universidade Federal do Rio Grande</a:t>
            </a:r>
          </a:p>
          <a:p>
            <a:pPr algn="r"/>
            <a:r>
              <a:rPr lang="pt-BR" altLang="en-US" sz="1600" dirty="0"/>
              <a:t>PPG Aplicações para Web - </a:t>
            </a:r>
            <a:r>
              <a:rPr lang="pt-BR" altLang="en-US" sz="1600" dirty="0">
                <a:sym typeface="+mn-ea"/>
              </a:rPr>
              <a:t>Polo SJN</a:t>
            </a:r>
          </a:p>
          <a:p>
            <a:pPr algn="r"/>
            <a:r>
              <a:rPr lang="pt-BR" altLang="en-US" sz="1600" dirty="0">
                <a:sym typeface="+mn-ea"/>
              </a:rPr>
              <a:t>Prof. Dr. Vinicius Menezes de Oliveira</a:t>
            </a:r>
            <a:br>
              <a:rPr lang="pt-BR" altLang="en-US" sz="1600" dirty="0">
                <a:sym typeface="+mn-ea"/>
              </a:rPr>
            </a:br>
            <a:r>
              <a:rPr lang="pt-BR" altLang="en-US" sz="1600" dirty="0">
                <a:sym typeface="+mn-ea"/>
              </a:rPr>
              <a:t>Rodrigo de Matos Alves - 129095</a:t>
            </a:r>
            <a:r>
              <a:rPr lang="pt-BR" altLang="en-US" dirty="0">
                <a:sym typeface="+mn-ea"/>
              </a:rPr>
              <a:t> </a:t>
            </a:r>
            <a:endParaRPr lang="pt-BR" alt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3427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1614</TotalTime>
  <Words>527</Words>
  <Application>Microsoft Office PowerPoint</Application>
  <PresentationFormat>Widescreen</PresentationFormat>
  <Paragraphs>43</Paragraphs>
  <Slides>13</Slides>
  <Notes>0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Concurso</vt:lpstr>
      <vt:lpstr>SUÍTE DE INTEGRAÇÃO DE SISTEMAS WEB </vt:lpstr>
      <vt:lpstr>Introdução e contexto</vt:lpstr>
      <vt:lpstr>Contexto e Motivação</vt:lpstr>
      <vt:lpstr>Objetivos </vt:lpstr>
      <vt:lpstr>Lista de atividades</vt:lpstr>
      <vt:lpstr>Resultados esperados</vt:lpstr>
      <vt:lpstr>Apresentação Código e Operação da Ferramenta</vt:lpstr>
      <vt:lpstr>Conclusões</vt:lpstr>
      <vt:lpstr>Conclusões</vt:lpstr>
      <vt:lpstr>Conclusões</vt:lpstr>
      <vt:lpstr>Referencias Bibliograficas</vt:lpstr>
      <vt:lpstr>Referencias Bibliograficas</vt:lpstr>
      <vt:lpstr>SUÍTE DE INTEGRAÇÃO DE SISTEMAS WEB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web na gestão de TI</dc:title>
  <dc:creator/>
  <cp:lastModifiedBy>Rodrigo de Matos Alves</cp:lastModifiedBy>
  <cp:revision>18</cp:revision>
  <dcterms:created xsi:type="dcterms:W3CDTF">2019-06-28T19:23:00Z</dcterms:created>
  <dcterms:modified xsi:type="dcterms:W3CDTF">2019-11-08T22:50:49Z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1046-11.2.0.8641</vt:lpwstr>
  </property>
</Properties>
</file>